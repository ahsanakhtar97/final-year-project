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6CBD42"/>
          </a:solidFill>
          <a:ln w="12700">
            <a:solidFill>
              <a:srgbClr val="6CBD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-1371600"/>
            <a:ext cx="3474720" cy="3474720"/>
          </a:xfrm>
          <a:prstGeom prst="ellipse">
            <a:avLst/>
          </a:prstGeom>
          <a:solidFill>
            <a:srgbClr val="1A7A40">
              <a:alpha val="28000"/>
            </a:srgbClr>
          </a:solidFill>
          <a:ln w="12700">
            <a:solidFill>
              <a:srgbClr val="1A7A40">
                <a:alpha val="2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-822960"/>
            <a:ext cx="2377440" cy="2377440"/>
          </a:xfrm>
          <a:prstGeom prst="ellipse">
            <a:avLst/>
          </a:prstGeom>
          <a:solidFill>
            <a:srgbClr val="6CBD42">
              <a:alpha val="18000"/>
            </a:srgbClr>
          </a:solidFill>
          <a:ln w="12700">
            <a:solidFill>
              <a:srgbClr val="6CBD42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3566160"/>
            <a:ext cx="2011680" cy="2011680"/>
          </a:xfrm>
          <a:prstGeom prst="ellipse">
            <a:avLst/>
          </a:prstGeom>
          <a:solidFill>
            <a:srgbClr val="1A7A40">
              <a:alpha val="20000"/>
            </a:srgbClr>
          </a:solidFill>
          <a:ln w="12700">
            <a:solidFill>
              <a:srgbClr val="1A7A40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800000">
            <a:off x="7772400" y="2926080"/>
            <a:ext cx="1280160" cy="640080"/>
          </a:xfrm>
          <a:prstGeom prst="ellipse">
            <a:avLst/>
          </a:prstGeom>
          <a:solidFill>
            <a:srgbClr val="6CBD42">
              <a:alpha val="30000"/>
            </a:srgbClr>
          </a:solidFill>
          <a:ln w="12700">
            <a:solidFill>
              <a:srgbClr val="6CBD42">
                <a:alpha val="3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91440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GrowFlow</a:t>
            </a:r>
            <a:endParaRPr lang="en-US" sz="6200" dirty="0"/>
          </a:p>
        </p:txBody>
      </p:sp>
      <p:sp>
        <p:nvSpPr>
          <p:cNvPr id="8" name="Text 6"/>
          <p:cNvSpPr/>
          <p:nvPr/>
        </p:nvSpPr>
        <p:spPr>
          <a:xfrm>
            <a:off x="411480" y="19659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6CB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Empowering Mental Health &amp; Personal Growth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11480" y="2578608"/>
            <a:ext cx="5029200" cy="36576"/>
          </a:xfrm>
          <a:prstGeom prst="rect">
            <a:avLst/>
          </a:prstGeom>
          <a:solidFill>
            <a:srgbClr val="6CBD42">
              <a:alpha val="60000"/>
            </a:srgbClr>
          </a:solidFill>
          <a:ln w="12700">
            <a:solidFill>
              <a:srgbClr val="6CBD42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74320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B9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Year Project  |  FAST-NUCES
</a:t>
            </a:r>
            <a:pPr algn="l" indent="0" marL="0">
              <a:buNone/>
            </a:pPr>
            <a:r>
              <a:rPr lang="en-US" sz="1400" dirty="0">
                <a:solidFill>
                  <a:srgbClr val="6B9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 Department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1148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9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 Computer Science · 2025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2419"/>
          </a:solidFill>
          <a:ln w="12700">
            <a:solidFill>
              <a:srgbClr val="0F241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05840"/>
            <a:ext cx="2651760" cy="91440"/>
          </a:xfrm>
          <a:prstGeom prst="rect">
            <a:avLst/>
          </a:prstGeom>
          <a:solidFill>
            <a:srgbClr val="6CBD42"/>
          </a:solidFill>
          <a:ln w="12700">
            <a:solidFill>
              <a:srgbClr val="6CBD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972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7A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in 4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11480" y="173736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worldwide affected by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D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health disorders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0" y="100584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1005840"/>
            <a:ext cx="2651760" cy="91440"/>
          </a:xfrm>
          <a:prstGeom prst="rect">
            <a:avLst/>
          </a:prstGeom>
          <a:solidFill>
            <a:srgbClr val="6CBD42"/>
          </a:solidFill>
          <a:ln w="12700">
            <a:solidFill>
              <a:srgbClr val="6CBD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10972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7A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75%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291840" y="173736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cases go untreated due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D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stigma &amp; inaccessibility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80760" y="100584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80760" y="1005840"/>
            <a:ext cx="2651760" cy="91440"/>
          </a:xfrm>
          <a:prstGeom prst="rect">
            <a:avLst/>
          </a:prstGeom>
          <a:solidFill>
            <a:srgbClr val="6CBD42"/>
          </a:solidFill>
          <a:ln w="12700">
            <a:solidFill>
              <a:srgbClr val="6CBD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72200" y="10972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7A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90%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172200" y="173736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therapists report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D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engagement as key challenge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" y="2834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Gap We're Filling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7200" y="3246120"/>
            <a:ext cx="82296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Existing apps are fragmented — mental health tools and productivity tools live in separate silos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No holistic platform combines mood tracking, habit building, journaling, focus timers, and professional care in one place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Patients lack structured, gamified pathways that keep them engaged long-term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Healthcare providers lack digital tools for managing patient relationships and appointments seamlessly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2743200" cy="2743200"/>
          </a:xfrm>
          <a:prstGeom prst="ellipse">
            <a:avLst/>
          </a:prstGeom>
          <a:solidFill>
            <a:srgbClr val="1A7A40">
              <a:alpha val="25000"/>
            </a:srgbClr>
          </a:solidFill>
          <a:ln w="12700">
            <a:solidFill>
              <a:srgbClr val="1A7A40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3200400"/>
            <a:ext cx="2286000" cy="2286000"/>
          </a:xfrm>
          <a:prstGeom prst="ellipse">
            <a:avLst/>
          </a:prstGeom>
          <a:solidFill>
            <a:srgbClr val="6CBD42">
              <a:alpha val="20000"/>
            </a:srgbClr>
          </a:solidFill>
          <a:ln w="12700">
            <a:solidFill>
              <a:srgbClr val="6CBD42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6CBD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Solution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GrowFlow — A Unified Mental Health &amp; Personal Growth Platform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1965960" cy="2468880"/>
          </a:xfrm>
          <a:prstGeom prst="rect">
            <a:avLst/>
          </a:prstGeom>
          <a:solidFill>
            <a:srgbClr val="1A3A2A"/>
          </a:solidFill>
          <a:ln w="12700">
            <a:solidFill>
              <a:srgbClr val="6CBD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417320"/>
            <a:ext cx="1965960" cy="685800"/>
          </a:xfrm>
          <a:prstGeom prst="rect">
            <a:avLst/>
          </a:prstGeom>
          <a:solidFill>
            <a:srgbClr val="1A7A40"/>
          </a:solidFill>
          <a:ln w="12700">
            <a:solidFill>
              <a:srgbClr val="1A7A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417320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38912" y="217627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CBD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Track &amp; Reflect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38912" y="2706624"/>
            <a:ext cx="1828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Mood, sleep, habits, journals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focus timers in one dashboard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496312" y="1417320"/>
            <a:ext cx="1965960" cy="2468880"/>
          </a:xfrm>
          <a:prstGeom prst="rect">
            <a:avLst/>
          </a:prstGeom>
          <a:solidFill>
            <a:srgbClr val="1A3A2A"/>
          </a:solidFill>
          <a:ln w="12700">
            <a:solidFill>
              <a:srgbClr val="6CBD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96312" y="1417320"/>
            <a:ext cx="1965960" cy="685800"/>
          </a:xfrm>
          <a:prstGeom prst="rect">
            <a:avLst/>
          </a:prstGeom>
          <a:solidFill>
            <a:srgbClr val="1A7A40"/>
          </a:solidFill>
          <a:ln w="12700">
            <a:solidFill>
              <a:srgbClr val="1A7A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42032" y="1417320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🏆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569464" y="217627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CBD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Grow &amp; Achieve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569464" y="2706624"/>
            <a:ext cx="1828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setting, gamified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achievements &amp; streak tracking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26864" y="1417320"/>
            <a:ext cx="1965960" cy="2468880"/>
          </a:xfrm>
          <a:prstGeom prst="rect">
            <a:avLst/>
          </a:prstGeom>
          <a:solidFill>
            <a:srgbClr val="1A3A2A"/>
          </a:solidFill>
          <a:ln w="12700">
            <a:solidFill>
              <a:srgbClr val="6CBD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26864" y="1417320"/>
            <a:ext cx="1965960" cy="685800"/>
          </a:xfrm>
          <a:prstGeom prst="rect">
            <a:avLst/>
          </a:prstGeom>
          <a:solidFill>
            <a:srgbClr val="1A7A40"/>
          </a:solidFill>
          <a:ln w="12700">
            <a:solidFill>
              <a:srgbClr val="1A7A4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72584" y="1417320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✨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4700016" y="217627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CBD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AI-Powered Coach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00016" y="2706624"/>
            <a:ext cx="1828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 insights, smart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&amp; crisis support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757416" y="1417320"/>
            <a:ext cx="1965960" cy="2468880"/>
          </a:xfrm>
          <a:prstGeom prst="rect">
            <a:avLst/>
          </a:prstGeom>
          <a:solidFill>
            <a:srgbClr val="1A3A2A"/>
          </a:solidFill>
          <a:ln w="12700">
            <a:solidFill>
              <a:srgbClr val="6CBD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757416" y="1417320"/>
            <a:ext cx="1965960" cy="685800"/>
          </a:xfrm>
          <a:prstGeom prst="rect">
            <a:avLst/>
          </a:prstGeom>
          <a:solidFill>
            <a:srgbClr val="1A7A40"/>
          </a:solidFill>
          <a:ln w="12700">
            <a:solidFill>
              <a:srgbClr val="1A7A4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03136" y="1417320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🩺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6830568" y="217627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CBD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Professional Care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830568" y="2706624"/>
            <a:ext cx="1828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with psychiatrists &amp;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psychologists, book appointments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9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 — two user roles: Patient &amp; Healthcare Provider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7A40"/>
          </a:solidFill>
          <a:ln w="12700">
            <a:solidFill>
              <a:srgbClr val="1A7A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Patient Features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01168" y="1005840"/>
            <a:ext cx="27432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F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01168" y="1005840"/>
            <a:ext cx="530352" cy="1170432"/>
          </a:xfrm>
          <a:prstGeom prst="rect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19456" y="1225296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95528" y="1078992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7A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Mood Tracker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95528" y="1426464"/>
            <a:ext cx="2084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mood logs with trend graphs &amp; emotion insights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145536" y="1005840"/>
            <a:ext cx="27432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F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45536" y="1005840"/>
            <a:ext cx="530352" cy="1170432"/>
          </a:xfrm>
          <a:prstGeom prst="rect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63824" y="1225296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🌙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739896" y="1078992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7A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Sleep Tracker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739896" y="1426464"/>
            <a:ext cx="2084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sleep quality, duration and identify patterns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89904" y="1005840"/>
            <a:ext cx="27432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F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89904" y="1005840"/>
            <a:ext cx="530352" cy="1170432"/>
          </a:xfrm>
          <a:prstGeom prst="rect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08192" y="1225296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684264" y="1078992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7A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Habit Builder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684264" y="1426464"/>
            <a:ext cx="2084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positive habits with streaks and reminders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01168" y="2331720"/>
            <a:ext cx="27432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F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01168" y="2331720"/>
            <a:ext cx="530352" cy="1170432"/>
          </a:xfrm>
          <a:prstGeom prst="rect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19456" y="2551176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95528" y="2404872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7A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 Planner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95528" y="2752344"/>
            <a:ext cx="2084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SMART goals with milestone tracking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145536" y="2331720"/>
            <a:ext cx="27432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F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145536" y="2331720"/>
            <a:ext cx="530352" cy="1170432"/>
          </a:xfrm>
          <a:prstGeom prst="rect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163824" y="2551176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📖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739896" y="2404872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7A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Growth Journal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3739896" y="2752344"/>
            <a:ext cx="2084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prompts &amp; free-form reflection journal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089904" y="2331720"/>
            <a:ext cx="27432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F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089904" y="2331720"/>
            <a:ext cx="530352" cy="1170432"/>
          </a:xfrm>
          <a:prstGeom prst="rect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08192" y="2551176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⏱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6684264" y="2404872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7A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Focus Timer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6684264" y="2752344"/>
            <a:ext cx="2084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Pomodoro-based focus sessions for productivity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201168" y="3657600"/>
            <a:ext cx="27432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F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01168" y="3657600"/>
            <a:ext cx="530352" cy="1170432"/>
          </a:xfrm>
          <a:prstGeom prst="rect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19456" y="3877056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🧠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795528" y="3730752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7A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Mind Games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795528" y="4078224"/>
            <a:ext cx="2084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exercises to reduce stress &amp; sharpen focus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3145536" y="3657600"/>
            <a:ext cx="27432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F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3145536" y="3657600"/>
            <a:ext cx="530352" cy="1170432"/>
          </a:xfrm>
          <a:prstGeom prst="rect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163824" y="3877056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📅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3739896" y="3730752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7A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Calendar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3739896" y="4078224"/>
            <a:ext cx="2084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calendar for sessions, reminders &amp; events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089904" y="3657600"/>
            <a:ext cx="27432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F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089904" y="3657600"/>
            <a:ext cx="530352" cy="1170432"/>
          </a:xfrm>
          <a:prstGeom prst="rect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108192" y="3877056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47" name="Text 45"/>
          <p:cNvSpPr/>
          <p:nvPr/>
        </p:nvSpPr>
        <p:spPr>
          <a:xfrm>
            <a:off x="6684264" y="3730752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7A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Insights &amp; Reports</a:t>
            </a:r>
            <a:endParaRPr lang="en-US" sz="1250" dirty="0"/>
          </a:p>
        </p:txBody>
      </p:sp>
      <p:sp>
        <p:nvSpPr>
          <p:cNvPr id="48" name="Text 46"/>
          <p:cNvSpPr/>
          <p:nvPr/>
        </p:nvSpPr>
        <p:spPr>
          <a:xfrm>
            <a:off x="6684264" y="4078224"/>
            <a:ext cx="2084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AI-generated reports on your progress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6CBD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Provider Dashboard &amp; Social Layer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10058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7A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Healthcare Providers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74320" y="1463040"/>
            <a:ext cx="39776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47472" y="1536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🏥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150876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7A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Practice Dashboard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14400" y="1792224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patient list, sessions and notes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2286000"/>
            <a:ext cx="39776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7472" y="23591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👤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14400" y="233172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7A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Public Profile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14400" y="2615184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Discoverable professional profile for patients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3108960"/>
            <a:ext cx="39776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47472" y="31821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📅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14400" y="315468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7A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Appointment System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14400" y="3438144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booking and scheduling system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3931920"/>
            <a:ext cx="39776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47472" y="40050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🚨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14400" y="39776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7A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Crisis Protocols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914400" y="4261104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crisis support tools and resources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0" y="960120"/>
            <a:ext cx="36576" cy="3886200"/>
          </a:xfrm>
          <a:prstGeom prst="rect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10058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7A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Community &amp; Engagement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754880" y="1463040"/>
            <a:ext cx="39776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828032" y="1536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👥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394960" y="150876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7A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Buddies System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394960" y="1792224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support &amp; accountability partners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54880" y="2286000"/>
            <a:ext cx="39776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828032" y="23591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🏆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5394960" y="233172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7A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Achievements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394960" y="2615184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Badges, streaks and milestones for motivation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54880" y="3108960"/>
            <a:ext cx="39776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828032" y="31821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🔔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5394960" y="315468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7A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Reminders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5394960" y="3438144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 nudges to stay on track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754880" y="3931920"/>
            <a:ext cx="39776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828032" y="40050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5394960" y="39776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7A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Weekly Reports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5394960" y="4261104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progress summaries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457200"/>
            <a:ext cx="4114800" cy="4114800"/>
          </a:xfrm>
          <a:prstGeom prst="ellipse">
            <a:avLst/>
          </a:prstGeom>
          <a:solidFill>
            <a:srgbClr val="1A7A40">
              <a:alpha val="12000"/>
            </a:srgbClr>
          </a:solidFill>
          <a:ln w="12700">
            <a:solidFill>
              <a:srgbClr val="1A7A40">
                <a:alpha val="12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6CBD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AI-Powered Coach &amp; Insights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B9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support that learns and adapts to each user's journey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4160520" cy="1600200"/>
          </a:xfrm>
          <a:prstGeom prst="rect">
            <a:avLst/>
          </a:prstGeom>
          <a:solidFill>
            <a:srgbClr val="1A3A2A"/>
          </a:solidFill>
          <a:ln w="12700">
            <a:solidFill>
              <a:srgbClr val="6CBD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84632" y="1463040"/>
            <a:ext cx="594360" cy="594360"/>
          </a:xfrm>
          <a:prstGeom prst="ellipse">
            <a:avLst/>
          </a:prstGeom>
          <a:solidFill>
            <a:srgbClr val="1A7A40"/>
          </a:solidFill>
          <a:ln w="12700">
            <a:solidFill>
              <a:srgbClr val="1A7A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14630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✨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88720" y="1399032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ADE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Conversational AI Coach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188720" y="1801368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24/7 AI companion that provides evidence-based CBT techniques, motivational support, and mental health guidance through natural conversation.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234440"/>
            <a:ext cx="4160520" cy="1600200"/>
          </a:xfrm>
          <a:prstGeom prst="rect">
            <a:avLst/>
          </a:prstGeom>
          <a:solidFill>
            <a:srgbClr val="1A3A2A"/>
          </a:solidFill>
          <a:ln w="12700">
            <a:solidFill>
              <a:srgbClr val="6CBD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919472" y="1463040"/>
            <a:ext cx="594360" cy="594360"/>
          </a:xfrm>
          <a:prstGeom prst="ellipse">
            <a:avLst/>
          </a:prstGeom>
          <a:solidFill>
            <a:srgbClr val="1A7A40"/>
          </a:solidFill>
          <a:ln w="12700">
            <a:solidFill>
              <a:srgbClr val="1A7A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19472" y="14630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📈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623560" y="1399032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ADE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Personalised Insights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623560" y="1801368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recognition across mood, sleep, habits and journal entries to surface meaningful correlations and actionable recommendations.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3063240"/>
            <a:ext cx="4160520" cy="1600200"/>
          </a:xfrm>
          <a:prstGeom prst="rect">
            <a:avLst/>
          </a:prstGeom>
          <a:solidFill>
            <a:srgbClr val="1A3A2A"/>
          </a:solidFill>
          <a:ln w="12700">
            <a:solidFill>
              <a:srgbClr val="6CBD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4632" y="3291840"/>
            <a:ext cx="594360" cy="594360"/>
          </a:xfrm>
          <a:prstGeom prst="ellipse">
            <a:avLst/>
          </a:prstGeom>
          <a:solidFill>
            <a:srgbClr val="1A7A40"/>
          </a:solidFill>
          <a:ln w="12700">
            <a:solidFill>
              <a:srgbClr val="1A7A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" y="32918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🛡️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88720" y="3227832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ADE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Crisis Detection &amp; Support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188720" y="3630168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language patterns to detect distress signals and proactively connects users with crisis resources and professional help.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3063240"/>
            <a:ext cx="4160520" cy="1600200"/>
          </a:xfrm>
          <a:prstGeom prst="rect">
            <a:avLst/>
          </a:prstGeom>
          <a:solidFill>
            <a:srgbClr val="1A3A2A"/>
          </a:solidFill>
          <a:ln w="12700">
            <a:solidFill>
              <a:srgbClr val="6CBD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919472" y="3291840"/>
            <a:ext cx="594360" cy="594360"/>
          </a:xfrm>
          <a:prstGeom prst="ellipse">
            <a:avLst/>
          </a:prstGeom>
          <a:solidFill>
            <a:srgbClr val="1A7A40"/>
          </a:solidFill>
          <a:ln w="12700">
            <a:solidFill>
              <a:srgbClr val="1A7A4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19472" y="32918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623560" y="3227832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ADE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Weekly Reports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623560" y="3630168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generation of comprehensive weekly progress reports summarising all tracked activities with AI-driven observations.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7A40"/>
          </a:solidFill>
          <a:ln w="12700">
            <a:solidFill>
              <a:srgbClr val="1A7A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37160" y="1005840"/>
            <a:ext cx="1325880" cy="1051560"/>
          </a:xfrm>
          <a:prstGeom prst="rect">
            <a:avLst/>
          </a:prstGeom>
          <a:solidFill>
            <a:srgbClr val="6CBD42"/>
          </a:solidFill>
          <a:ln w="12700">
            <a:solidFill>
              <a:srgbClr val="6CBD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5448" y="1005840"/>
            <a:ext cx="12984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Layer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37160" y="2331720"/>
            <a:ext cx="1325880" cy="1051560"/>
          </a:xfrm>
          <a:prstGeom prst="rect">
            <a:avLst/>
          </a:prstGeom>
          <a:solidFill>
            <a:srgbClr val="1A7A40"/>
          </a:solidFill>
          <a:ln w="12700">
            <a:solidFill>
              <a:srgbClr val="1A7A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5448" y="2331720"/>
            <a:ext cx="12984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Layer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37160" y="3657600"/>
            <a:ext cx="1325880" cy="1051560"/>
          </a:xfrm>
          <a:prstGeom prst="rect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5448" y="3657600"/>
            <a:ext cx="12984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48640" y="2066544"/>
            <a:ext cx="457200" cy="274320"/>
          </a:xfrm>
          <a:prstGeom prst="rect">
            <a:avLst/>
          </a:prstGeom>
          <a:solidFill>
            <a:srgbClr val="6B9E7A"/>
          </a:solidFill>
          <a:ln w="12700">
            <a:solidFill>
              <a:srgbClr val="6B9E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2084832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▼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392424"/>
            <a:ext cx="457200" cy="274320"/>
          </a:xfrm>
          <a:prstGeom prst="rect">
            <a:avLst/>
          </a:prstGeom>
          <a:solidFill>
            <a:srgbClr val="6B9E7A"/>
          </a:solidFill>
          <a:ln w="12700">
            <a:solidFill>
              <a:srgbClr val="6B9E7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3410712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▼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600200" y="1005840"/>
            <a:ext cx="1719072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6CBD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645920" y="1042416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⚛️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645920" y="1444752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14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D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(App Router)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465576" y="1005840"/>
            <a:ext cx="1719072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6CBD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511296" y="1042416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🎨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511296" y="1444752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D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Tailwind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330952" y="1005840"/>
            <a:ext cx="1719072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6CBD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376672" y="1042416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🧩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376672" y="1444752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D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196328" y="1005840"/>
            <a:ext cx="1719072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6CBD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242048" y="1042416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📱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7242048" y="1444752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D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(Offline)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600200" y="2331720"/>
            <a:ext cx="1719072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1A7A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645920" y="2359152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🔧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645920" y="2761488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NestJS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D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465576" y="2331720"/>
            <a:ext cx="1719072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1A7A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3511296" y="2359152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🔐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3511296" y="2761488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D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RBAC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330952" y="2331720"/>
            <a:ext cx="1719072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1A7A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376672" y="2359152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5376672" y="2761488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Coach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D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196328" y="2331720"/>
            <a:ext cx="1719072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1A7A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7242048" y="2359152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📧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7242048" y="2761488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D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1600200" y="3657600"/>
            <a:ext cx="1719072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1A3A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1645920" y="3685032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🗃️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1645920" y="4087368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D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(TypeORM)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465576" y="3657600"/>
            <a:ext cx="1719072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1A3A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3511296" y="3685032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3511296" y="4087368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D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330952" y="3657600"/>
            <a:ext cx="1719072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1A3A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5376672" y="3685032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☁️</a:t>
            </a:r>
            <a:endParaRPr lang="en-US" sz="2000" dirty="0"/>
          </a:p>
        </p:txBody>
      </p:sp>
      <p:sp>
        <p:nvSpPr>
          <p:cNvPr id="46" name="Text 44"/>
          <p:cNvSpPr/>
          <p:nvPr/>
        </p:nvSpPr>
        <p:spPr>
          <a:xfrm>
            <a:off x="5376672" y="4087368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D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7196328" y="3657600"/>
            <a:ext cx="1719072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1A3A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7242048" y="3685032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✨</a:t>
            </a:r>
            <a:endParaRPr lang="en-US" sz="2000" dirty="0"/>
          </a:p>
        </p:txBody>
      </p:sp>
      <p:sp>
        <p:nvSpPr>
          <p:cNvPr id="49" name="Text 47"/>
          <p:cNvSpPr/>
          <p:nvPr/>
        </p:nvSpPr>
        <p:spPr>
          <a:xfrm>
            <a:off x="7242048" y="4087368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API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D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(LLM)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2419"/>
          </a:solidFill>
          <a:ln w="12700">
            <a:solidFill>
              <a:srgbClr val="0F241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6CBD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01168" y="960120"/>
            <a:ext cx="201168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01168" y="960120"/>
            <a:ext cx="2011680" cy="475488"/>
          </a:xfrm>
          <a:prstGeom prst="rect">
            <a:avLst/>
          </a:prstGeom>
          <a:solidFill>
            <a:srgbClr val="6CBD42"/>
          </a:solidFill>
          <a:ln w="12700">
            <a:solidFill>
              <a:srgbClr val="6CBD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46888" y="96012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Frontend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92608" y="1508760"/>
            <a:ext cx="18288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14 (App Router)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Lucide Icons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i18n / translations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react-toastify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395728" y="960120"/>
            <a:ext cx="201168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395728" y="960120"/>
            <a:ext cx="2011680" cy="475488"/>
          </a:xfrm>
          <a:prstGeom prst="rect">
            <a:avLst/>
          </a:prstGeom>
          <a:solidFill>
            <a:srgbClr val="1A7A40"/>
          </a:solidFill>
          <a:ln w="12700">
            <a:solidFill>
              <a:srgbClr val="1A7A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41448" y="96012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Backend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487168" y="1508760"/>
            <a:ext cx="18288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NestJS (Node.js)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+ Passport.js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NestJS modules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90288" y="960120"/>
            <a:ext cx="201168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90288" y="960120"/>
            <a:ext cx="2011680" cy="475488"/>
          </a:xfrm>
          <a:prstGeom prst="rect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36008" y="96012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Database &amp; Storage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681728" y="1508760"/>
            <a:ext cx="18288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TypeORM (entities + migrations)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(session cache)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file storage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relational schema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784848" y="960120"/>
            <a:ext cx="201168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784848" y="960120"/>
            <a:ext cx="2011680" cy="475488"/>
          </a:xfrm>
          <a:prstGeom prst="rect">
            <a:avLst/>
          </a:prstGeom>
          <a:solidFill>
            <a:srgbClr val="2C5282"/>
          </a:solidFill>
          <a:ln w="12700">
            <a:solidFill>
              <a:srgbClr val="2C528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30568" y="96012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&amp; DevOps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76288" y="1508760"/>
            <a:ext cx="18288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API integration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coaching pipeline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/ CI-CD ready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Environment-based config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CORS-hardened API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(manifest + service worker)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7A40"/>
          </a:solidFill>
          <a:ln w="12700">
            <a:solidFill>
              <a:srgbClr val="1A7A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Technical Highlights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82880" y="1005840"/>
            <a:ext cx="27889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1005840"/>
            <a:ext cx="54864" cy="1783080"/>
          </a:xfrm>
          <a:prstGeom prst="rect">
            <a:avLst/>
          </a:prstGeom>
          <a:solidFill>
            <a:srgbClr val="6CBD42"/>
          </a:solidFill>
          <a:ln w="12700">
            <a:solidFill>
              <a:srgbClr val="6CBD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115568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7A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27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20040" y="160020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NestJS Modules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20040" y="1901952"/>
            <a:ext cx="257860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Modular, scalable backend architecture with full separation of concerns — auth, users, habits, goals, mood, sleep, journal, appointments, and more.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172968" y="1005840"/>
            <a:ext cx="27889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72968" y="1005840"/>
            <a:ext cx="54864" cy="1783080"/>
          </a:xfrm>
          <a:prstGeom prst="rect">
            <a:avLst/>
          </a:prstGeom>
          <a:solidFill>
            <a:srgbClr val="6CBD42"/>
          </a:solidFill>
          <a:ln w="12700">
            <a:solidFill>
              <a:srgbClr val="6CBD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10128" y="1115568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7A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3310128" y="160020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 Roles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310128" y="1901952"/>
            <a:ext cx="257860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Completely separate UX flows for Patients and Healthcare Providers (Psychiatrists &amp; Psychologists) with role-based routing and permissions.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63056" y="1005840"/>
            <a:ext cx="27889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63056" y="1005840"/>
            <a:ext cx="54864" cy="1783080"/>
          </a:xfrm>
          <a:prstGeom prst="rect">
            <a:avLst/>
          </a:prstGeom>
          <a:solidFill>
            <a:srgbClr val="6CBD42"/>
          </a:solidFill>
          <a:ln w="12700">
            <a:solidFill>
              <a:srgbClr val="6CBD4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0216" y="1115568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7A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18+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300216" y="160020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Patient Features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300216" y="1901952"/>
            <a:ext cx="257860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feature set covering the full mental health journey — from daily tracking to professional care, all within a single authenticated session.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82880" y="2971800"/>
            <a:ext cx="27889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82880" y="2971800"/>
            <a:ext cx="54864" cy="1783080"/>
          </a:xfrm>
          <a:prstGeom prst="rect">
            <a:avLst/>
          </a:prstGeom>
          <a:solidFill>
            <a:srgbClr val="6CBD42"/>
          </a:solidFill>
          <a:ln w="12700">
            <a:solidFill>
              <a:srgbClr val="6CBD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3081528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7A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PWA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320040" y="356616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Progressive Web App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20040" y="3867912"/>
            <a:ext cx="257860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Installable on mobile and desktop with offline support, push notifications, and app-like experience via Web Manifest and service workers.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172968" y="2971800"/>
            <a:ext cx="27889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172968" y="2971800"/>
            <a:ext cx="54864" cy="1783080"/>
          </a:xfrm>
          <a:prstGeom prst="rect">
            <a:avLst/>
          </a:prstGeom>
          <a:solidFill>
            <a:srgbClr val="6CBD42"/>
          </a:solidFill>
          <a:ln w="12700">
            <a:solidFill>
              <a:srgbClr val="6CBD4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10128" y="3081528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7A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i18n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3310128" y="356616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Multilingual Support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3310128" y="3867912"/>
            <a:ext cx="257860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internationalisation with translation context — supports multiple languages for maximum accessibility and reach.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63056" y="2971800"/>
            <a:ext cx="27889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63056" y="2971800"/>
            <a:ext cx="54864" cy="1783080"/>
          </a:xfrm>
          <a:prstGeom prst="rect">
            <a:avLst/>
          </a:prstGeom>
          <a:solidFill>
            <a:srgbClr val="6CBD42"/>
          </a:solidFill>
          <a:ln w="12700">
            <a:solidFill>
              <a:srgbClr val="6CBD4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00216" y="3081528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7A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JWT</a:t>
            </a:r>
            <a:endParaRPr lang="en-US" sz="3200" dirty="0"/>
          </a:p>
        </p:txBody>
      </p:sp>
      <p:sp>
        <p:nvSpPr>
          <p:cNvPr id="32" name="Text 30"/>
          <p:cNvSpPr/>
          <p:nvPr/>
        </p:nvSpPr>
        <p:spPr>
          <a:xfrm>
            <a:off x="6300216" y="356616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Stateless Auth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6300216" y="3867912"/>
            <a:ext cx="257860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Secure, stateless authentication with JWT tokens, Passport.js strategies, and CORS-hardened API endpoints.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6CBD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Competitive Landscape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60120"/>
          <a:ext cx="8595360" cy="3977640"/>
        </p:xfrm>
        <a:graphic>
          <a:graphicData uri="http://schemas.openxmlformats.org/drawingml/2006/table">
            <a:tbl>
              <a:tblPr/>
              <a:tblGrid>
                <a:gridCol w="2560320"/>
                <a:gridCol w="1508760"/>
                <a:gridCol w="1508760"/>
                <a:gridCol w="1508760"/>
                <a:gridCol w="150876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F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7A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Headspace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F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7A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BetterHelp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F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7A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Daylio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F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7A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GrowFlow ✨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F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BD4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4A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Mood Tracking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F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C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F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C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F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7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F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7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F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4A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Habit Tracker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F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7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F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C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F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C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F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7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F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4A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Professional Care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F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C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F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7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F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C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F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7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F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4A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Coaching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F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C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F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C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F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C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F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7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F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4A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Sleep Tracking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F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7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F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C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F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C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F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7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F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4A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Goal Setting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F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C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F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C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F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C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F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7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F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4A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Focus Timer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F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C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F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C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F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C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F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7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F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4A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/ Accessible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F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C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F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C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F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7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F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7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F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7A40"/>
          </a:solidFill>
          <a:ln w="12700">
            <a:solidFill>
              <a:srgbClr val="1A7A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Challenges &amp; Solutions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28600" y="1005840"/>
            <a:ext cx="3794760" cy="877824"/>
          </a:xfrm>
          <a:prstGeom prst="rect">
            <a:avLst/>
          </a:prstGeom>
          <a:solidFill>
            <a:srgbClr val="FFF3E0"/>
          </a:solidFill>
          <a:ln w="12700">
            <a:solidFill>
              <a:srgbClr val="FFB7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042416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Challenge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20040" y="128016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SSR + Dynamic Components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0" y="126187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A7A40"/>
                </a:solidFill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411480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6CBD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46320" y="104241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7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Solution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846320" y="1298448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Next.js dynamic() with ssr:false for browser-only components (e.g. ToastContainer) to prevent null useContext errors during prerender.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28600" y="2029968"/>
            <a:ext cx="3794760" cy="877824"/>
          </a:xfrm>
          <a:prstGeom prst="rect">
            <a:avLst/>
          </a:prstGeom>
          <a:solidFill>
            <a:srgbClr val="FFF3E0"/>
          </a:solidFill>
          <a:ln w="12700">
            <a:solidFill>
              <a:srgbClr val="FFB7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0040" y="2066544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Challenge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20040" y="2304288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Multi-role Architecture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114800" y="22860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A7A40"/>
                </a:solidFill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4754880" y="2029968"/>
            <a:ext cx="411480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6CBD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46320" y="206654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7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Solution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846320" y="2322576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Passport.js with JWT strategy and role guards at route level, with separate navigation trees per role decoded from token payload.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28600" y="3054096"/>
            <a:ext cx="3794760" cy="877824"/>
          </a:xfrm>
          <a:prstGeom prst="rect">
            <a:avLst/>
          </a:prstGeom>
          <a:solidFill>
            <a:srgbClr val="FFF3E0"/>
          </a:solidFill>
          <a:ln w="12700">
            <a:solidFill>
              <a:srgbClr val="FFB7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20040" y="309067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Challenge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20040" y="3328416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Complexity at Scale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114800" y="331012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A7A40"/>
                </a:solidFill>
              </a:rPr>
              <a:t>→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4754880" y="3054096"/>
            <a:ext cx="411480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6CBD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46320" y="309067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7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Solution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846320" y="3346704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Adopted NestJS modular architecture with 27 independent modules, each owning its entities, services, and controllers — zero cross-module pollution.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28600" y="4078224"/>
            <a:ext cx="3794760" cy="877824"/>
          </a:xfrm>
          <a:prstGeom prst="rect">
            <a:avLst/>
          </a:prstGeom>
          <a:solidFill>
            <a:srgbClr val="FFF3E0"/>
          </a:solidFill>
          <a:ln w="12700">
            <a:solidFill>
              <a:srgbClr val="FFB7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20040" y="411480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Challenge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20040" y="4352544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 Engagement &amp; Retention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114800" y="433425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A7A40"/>
                </a:solidFill>
              </a:rPr>
              <a:t>→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4754880" y="4078224"/>
            <a:ext cx="411480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6CBD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846320" y="411480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7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Solution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846320" y="4370832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Gamification layer (achievements, streaks, buddies system) combined with AI nudges and personalised weekly reports to sustain daily engagement.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6CBD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Roadmap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82880" y="960120"/>
            <a:ext cx="278892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960120"/>
            <a:ext cx="2788920" cy="594360"/>
          </a:xfrm>
          <a:prstGeom prst="rect">
            <a:avLst/>
          </a:prstGeom>
          <a:solidFill>
            <a:srgbClr val="6CBD42"/>
          </a:solidFill>
          <a:ln w="12700">
            <a:solidFill>
              <a:srgbClr val="6CBD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8755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128016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→ 6 months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0040" y="1645920"/>
            <a:ext cx="25603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&amp; Android native app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Expanded AI model (fine-tuned on mental health data)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session integration with providers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forums &amp; group therapy spaces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72968" y="960120"/>
            <a:ext cx="278892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72968" y="960120"/>
            <a:ext cx="2788920" cy="594360"/>
          </a:xfrm>
          <a:prstGeom prst="rect">
            <a:avLst/>
          </a:prstGeom>
          <a:solidFill>
            <a:srgbClr val="1A7A40"/>
          </a:solidFill>
          <a:ln w="12700">
            <a:solidFill>
              <a:srgbClr val="1A7A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64408" y="98755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64408" y="128016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→ 12 months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310128" y="1645920"/>
            <a:ext cx="25603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Wearable integration (fitbit, Apple Watch)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Clinical-grade mood analytics for providers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&amp; billing module for providers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AI coaching expansion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63056" y="960120"/>
            <a:ext cx="278892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63056" y="960120"/>
            <a:ext cx="2788920" cy="594360"/>
          </a:xfrm>
          <a:prstGeom prst="rect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54496" y="98755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54496" y="128016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12+ months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300216" y="1645920"/>
            <a:ext cx="25603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partnerships with hospitals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Anonymised dataset for mental health research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B2B version for workplaces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expansion &amp; regional compliance (HIPAA, GDPR)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1A7A40">
              <a:alpha val="20000"/>
            </a:srgbClr>
          </a:solidFill>
          <a:ln w="12700">
            <a:solidFill>
              <a:srgbClr val="1A7A40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286000"/>
            <a:ext cx="3657600" cy="3657600"/>
          </a:xfrm>
          <a:prstGeom prst="ellipse">
            <a:avLst/>
          </a:prstGeom>
          <a:solidFill>
            <a:srgbClr val="6CBD42">
              <a:alpha val="15000"/>
            </a:srgbClr>
          </a:solidFill>
          <a:ln w="12700">
            <a:solidFill>
              <a:srgbClr val="6CBD42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0" y="3474720"/>
            <a:ext cx="1828800" cy="1828800"/>
          </a:xfrm>
          <a:prstGeom prst="ellipse">
            <a:avLst/>
          </a:prstGeom>
          <a:solidFill>
            <a:srgbClr val="1A7A40">
              <a:alpha val="12000"/>
            </a:srgbClr>
          </a:solidFill>
          <a:ln w="12700">
            <a:solidFill>
              <a:srgbClr val="1A7A40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6CBD42"/>
          </a:solidFill>
          <a:ln w="12700">
            <a:solidFill>
              <a:srgbClr val="6CBD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7772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6CB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743200" y="2359152"/>
            <a:ext cx="3657600" cy="36576"/>
          </a:xfrm>
          <a:prstGeom prst="rect">
            <a:avLst/>
          </a:prstGeom>
          <a:solidFill>
            <a:srgbClr val="6CBD42">
              <a:alpha val="60000"/>
            </a:srgbClr>
          </a:solidFill>
          <a:ln w="12700">
            <a:solidFill>
              <a:srgbClr val="6CBD42">
                <a:alpha val="6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514600"/>
            <a:ext cx="6949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Unified mental health platform — tracking, growth, care &amp; AI in one place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Role-based: Patients and Healthcare Providers — dual-UX architecture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Built on modern stack: Next.js 14 + NestJS + TypeScript + PostgreSQL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PWA, i18n, gamification, AI Coach, Crisis Support — production-ready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9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GrowFlow  ·  FAST-NUCES  ·  Computer Science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GrowFlow – Mental Health &amp; Personal Growth Platform</dc:title>
  <dc:subject>PptxGenJS Presentation</dc:subject>
  <dc:creator>GrowFlow Team</dc:creator>
  <cp:lastModifiedBy>GrowFlow Team</cp:lastModifiedBy>
  <cp:revision>1</cp:revision>
  <dcterms:created xsi:type="dcterms:W3CDTF">2026-05-12T20:21:18Z</dcterms:created>
  <dcterms:modified xsi:type="dcterms:W3CDTF">2026-05-12T20:21:18Z</dcterms:modified>
</cp:coreProperties>
</file>